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57" r:id="rId4"/>
    <p:sldId id="258" r:id="rId5"/>
    <p:sldId id="259" r:id="rId6"/>
    <p:sldId id="263" r:id="rId7"/>
    <p:sldId id="265" r:id="rId8"/>
    <p:sldId id="264" r:id="rId9"/>
    <p:sldId id="266" r:id="rId10"/>
    <p:sldId id="267" r:id="rId11"/>
    <p:sldId id="260" r:id="rId12"/>
    <p:sldId id="261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2B648-C40F-43FA-AD87-04F89360CF27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5014B-BF97-4730-9FB4-2AB39D06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27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5014B-BF97-4730-9FB4-2AB39D06BF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19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3DEC8-8971-4070-B6A4-8A1143E9A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918A1-9CC7-400D-8EBB-7D6B34ABB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E6BB9-5EED-4955-B6DA-533854693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80C1-C912-4E78-96D8-3739EF91B0DA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D6982-AD14-4545-84A3-5389EB385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30503-17FA-418C-A02A-1BA1B0C6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B35C3-CDF8-4924-AAB8-CE273FD8F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60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985E0-59B9-4BD6-A598-09CA2460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A91C9-B49C-407A-828E-5D4DF1D08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2E3BD-153F-4DCA-B1DC-070FD548E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80C1-C912-4E78-96D8-3739EF91B0DA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C6B6D-8833-4F92-AE43-1685B3113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0B291-B2FD-43C3-8D73-148A57C6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B35C3-CDF8-4924-AAB8-CE273FD8F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9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FDDC1-9B8C-44EE-9602-1BCD6439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634E9-97E7-411F-A562-99D505EB1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5804-622A-4972-A913-A6B329F5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80C1-C912-4E78-96D8-3739EF91B0DA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FB17B-8C8B-432A-9802-5BBAE520E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C413E-FEFF-4938-82DC-57D14791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B35C3-CDF8-4924-AAB8-CE273FD8F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1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03678-B733-4CEF-A13B-20A2366D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21CE2-784E-4BB5-B582-09DCA7BE2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16BE6-8A33-4EAA-9EE6-59B84AC7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02E68-359D-48F2-ADFC-C173F479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80C1-C912-4E78-96D8-3739EF91B0DA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B13AF-3262-4F2B-987A-CEA575B9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CCBF0-5667-4970-A68A-8769647DB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B35C3-CDF8-4924-AAB8-CE273FD8F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1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0A14-23B3-4628-B0A4-06447D2C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DB76F-EA30-43E5-A913-51E36BBFE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E74F8-F3FD-4FE7-A0B0-7F9F7A795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144162-0FC3-4CCD-8BCA-80B5D448F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852BF6-6EE3-485C-AB49-E1618D16A4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0BB17-3FB4-453B-8A1D-147AFC49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80C1-C912-4E78-96D8-3739EF91B0DA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8BAF4E-5A14-4FFB-A4D7-4CD6D73B8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A6E999-4CBC-4695-8F6B-DDACE52A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B35C3-CDF8-4924-AAB8-CE273FD8F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4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DD6FE-1D35-435B-AF8C-3A609037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F9690E-E719-48D2-952C-CFCD7972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80C1-C912-4E78-96D8-3739EF91B0DA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C04C3-04CB-4BF1-AE42-3C866B8D7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33424-96C6-4688-B4AA-C36767EAA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B35C3-CDF8-4924-AAB8-CE273FD8F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75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264D3F-0B47-471B-9D02-A9B01A03D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80C1-C912-4E78-96D8-3739EF91B0DA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41347-20E0-4431-9357-960CB078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778C1-E25F-42C5-A32F-BF609C41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B35C3-CDF8-4924-AAB8-CE273FD8F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7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7684-2F61-4CBB-9907-992448C5D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4A338-B1D7-4EA4-B708-52714919A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5422F-DBD3-4A80-85C2-D76056AEC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4EC1A-E504-4E6D-A5C8-5C98742A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80C1-C912-4E78-96D8-3739EF91B0DA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B5974-4FE4-4F3B-91F0-5573F61E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62DF-453F-4DC9-A6CE-FA6E29207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B35C3-CDF8-4924-AAB8-CE273FD8F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8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354D-D1B7-486C-B64E-7B71E85A5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4A42D-C59C-4E8E-B75E-1F3008819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38F6B-63F9-4BD9-B56E-B62EA1E15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5B057-D000-406C-91F3-73FB5C25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80C1-C912-4E78-96D8-3739EF91B0DA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C1474-0A69-487B-B1C8-B8DD74759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A733C-F2FE-41E7-90DB-E6EEE1AB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B35C3-CDF8-4924-AAB8-CE273FD8F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50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76DE6-C633-4155-B534-6043BF13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8EA71-24D3-4329-9C9A-FAA094BD6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03CB8-3D73-4A6C-A2A0-C79490DE1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80C1-C912-4E78-96D8-3739EF91B0DA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7EBCE-B9C6-4E8E-A4AB-44A805DD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ECEB5-BD0F-4494-BE58-A2116C9F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B35C3-CDF8-4924-AAB8-CE273FD8F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90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EFA322-E63F-41FB-B298-AE14B9A78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49065-B3E9-4F09-A682-EE58840F7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43084-DB8D-449F-90C4-68B50B4D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980C1-C912-4E78-96D8-3739EF91B0DA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2D628-E3BC-42AB-A39A-7E36E6A6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49785-F078-40BA-BA9F-51AF68DC9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B35C3-CDF8-4924-AAB8-CE273FD8F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08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AF42D3-1FB2-4BDC-98C0-CFE554BA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173DD-4291-4DDA-9E0E-B3616ADAB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856F0-ECCF-451A-8E19-5DF18E090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980C1-C912-4E78-96D8-3739EF91B0DA}" type="datetimeFigureOut">
              <a:rPr lang="en-US" smtClean="0"/>
              <a:t>12/5/2018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1AA3D-8AAD-4D15-B8F8-60866841E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6BA1D-F03E-4CA0-A9A3-708381D43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B35C3-CDF8-4924-AAB8-CE273FD8F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7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2563-70CA-4294-A1C5-B647359EC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Debugging</a:t>
            </a:r>
            <a:r>
              <a:rPr lang="en-US"/>
              <a:t>: ITD/ILD </a:t>
            </a:r>
            <a:r>
              <a:rPr lang="en-US" dirty="0"/>
              <a:t>calculation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E5305-83B9-4E38-9788-A2AE83D74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2018/11/13</a:t>
            </a:r>
          </a:p>
        </p:txBody>
      </p:sp>
    </p:spTree>
    <p:extLst>
      <p:ext uri="{BB962C8B-B14F-4D97-AF65-F5344CB8AC3E}">
        <p14:creationId xmlns:p14="http://schemas.microsoft.com/office/powerpoint/2010/main" val="412730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E0C6-129C-43E8-904E-27BC48C27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Problem/Overview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06135-416D-4328-A90F-B18FC6A67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Signals from 0 degrees azimuth are showing up in neural activities of 45 and 90 deg neurons</a:t>
            </a:r>
          </a:p>
          <a:p>
            <a:r>
              <a:rPr lang="en-US" dirty="0"/>
              <a:t>Observation 1: If input gain is low, then ILD for different spatial locations all round to 0 (slide 4,5). If multiple spatially sensitive neurons share the same ILD, then they are no longer spatially sensitive.</a:t>
            </a:r>
          </a:p>
          <a:p>
            <a:r>
              <a:rPr lang="en-US" dirty="0"/>
              <a:t>Observation 2: The Fischer ILD calculation may not be viable for low frequencies (slides 7-10)</a:t>
            </a:r>
          </a:p>
          <a:p>
            <a:r>
              <a:rPr lang="en-US" dirty="0"/>
              <a:t>Possible remedies: Weigh ILD and ITD differently, depending on the frequency channel (duplex theory)</a:t>
            </a:r>
          </a:p>
        </p:txBody>
      </p:sp>
    </p:spTree>
    <p:extLst>
      <p:ext uri="{BB962C8B-B14F-4D97-AF65-F5344CB8AC3E}">
        <p14:creationId xmlns:p14="http://schemas.microsoft.com/office/powerpoint/2010/main" val="1620856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60FC4-63FF-4D8F-8BB1-C752F4921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ILD Calculation: General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A6726-AC3A-49D9-A659-DECBC2E50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Convolve broad band noise with x degree </a:t>
            </a:r>
            <a:r>
              <a:rPr lang="en-US" dirty="0" err="1"/>
              <a:t>az</a:t>
            </a:r>
            <a:r>
              <a:rPr lang="en-US" dirty="0"/>
              <a:t> KEMAR HRTF</a:t>
            </a:r>
          </a:p>
          <a:p>
            <a:r>
              <a:rPr lang="en-US" dirty="0"/>
              <a:t>Filter using ERB Filter Bank</a:t>
            </a:r>
          </a:p>
          <a:p>
            <a:r>
              <a:rPr lang="en-US" dirty="0"/>
              <a:t>Calculate Energy Envelope Difference with Fischer’s code.</a:t>
            </a:r>
          </a:p>
        </p:txBody>
      </p:sp>
    </p:spTree>
    <p:extLst>
      <p:ext uri="{BB962C8B-B14F-4D97-AF65-F5344CB8AC3E}">
        <p14:creationId xmlns:p14="http://schemas.microsoft.com/office/powerpoint/2010/main" val="2664628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0F2DE-FA9A-419C-9951-A3F78483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low gain…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647013-CA13-467B-916A-30447E285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09894" y="542745"/>
            <a:ext cx="7688385" cy="57725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D0D7F75-E740-4E83-B175-079394BDEEC7}"/>
              </a:ext>
            </a:extLst>
          </p:cNvPr>
          <p:cNvSpPr/>
          <p:nvPr/>
        </p:nvSpPr>
        <p:spPr>
          <a:xfrm>
            <a:off x="5638800" y="2948473"/>
            <a:ext cx="914400" cy="793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2D3AD-4040-4424-A4A1-FDCC3750D862}"/>
              </a:ext>
            </a:extLst>
          </p:cNvPr>
          <p:cNvSpPr txBox="1"/>
          <p:nvPr/>
        </p:nvSpPr>
        <p:spPr>
          <a:xfrm>
            <a:off x="820500" y="2148227"/>
            <a:ext cx="3276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 Box: All spatial directions share the same ILD (0) at low frequencies – </a:t>
            </a:r>
            <a:r>
              <a:rPr lang="en-US" b="1" dirty="0"/>
              <a:t>meaning all spatial cells at low frequencies will fire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i.e. cells of low CFs will have very broad spatial tuning.</a:t>
            </a:r>
          </a:p>
        </p:txBody>
      </p:sp>
    </p:spTree>
    <p:extLst>
      <p:ext uri="{BB962C8B-B14F-4D97-AF65-F5344CB8AC3E}">
        <p14:creationId xmlns:p14="http://schemas.microsoft.com/office/powerpoint/2010/main" val="441384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D7C83-EC8A-4EBF-B299-E76CB71EC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higher gain…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655AB4-EEA9-42D0-B770-89EC50EFC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9484" y="737119"/>
            <a:ext cx="7419259" cy="55704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A4FF71-EF12-4432-9E17-757B634D7164}"/>
              </a:ext>
            </a:extLst>
          </p:cNvPr>
          <p:cNvSpPr txBox="1"/>
          <p:nvPr/>
        </p:nvSpPr>
        <p:spPr>
          <a:xfrm>
            <a:off x="583257" y="2174033"/>
            <a:ext cx="38301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Better frequency separation at low frequencies.</a:t>
            </a:r>
          </a:p>
          <a:p>
            <a:endParaRPr lang="en-US" dirty="0"/>
          </a:p>
          <a:p>
            <a:r>
              <a:rPr lang="en-US" dirty="0"/>
              <a:t>The lines for 45 and 90 deg cross at medium to high frequencies – this will promote leakage into other spatial channels…?</a:t>
            </a:r>
          </a:p>
          <a:p>
            <a:endParaRPr lang="en-US" dirty="0"/>
          </a:p>
          <a:p>
            <a:r>
              <a:rPr lang="en-US" dirty="0"/>
              <a:t>At 0 degrees, there shouldn’t be leakage into other spatial channels.</a:t>
            </a:r>
          </a:p>
        </p:txBody>
      </p:sp>
    </p:spTree>
    <p:extLst>
      <p:ext uri="{BB962C8B-B14F-4D97-AF65-F5344CB8AC3E}">
        <p14:creationId xmlns:p14="http://schemas.microsoft.com/office/powerpoint/2010/main" val="4268187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7506F-417B-47AF-BAD7-7BC5C9A03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this point, the problem persists for frequency channels below 300 Hz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81CE5-B993-46CA-8630-486A09A77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Left: ILD for the signal</a:t>
            </a:r>
          </a:p>
          <a:p>
            <a:r>
              <a:rPr lang="en-US" dirty="0"/>
              <a:t>Right: Cross-correlation activity for a -45 deg neuron, responding to a 0 deg signal: (what is the scale, in relation? – what is the cross correlation for 0 deg neuron?)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AB4D66-5E86-4E12-A4EA-F5F4724BA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138" y="3429001"/>
            <a:ext cx="4317006" cy="32412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C1738D-D9ED-44F0-877E-68D54BEC847E}"/>
              </a:ext>
            </a:extLst>
          </p:cNvPr>
          <p:cNvSpPr txBox="1"/>
          <p:nvPr/>
        </p:nvSpPr>
        <p:spPr>
          <a:xfrm>
            <a:off x="1099355" y="3562380"/>
            <a:ext cx="108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Freq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C85A51-D5CE-4F81-85E4-83F00C1C1CA4}"/>
              </a:ext>
            </a:extLst>
          </p:cNvPr>
          <p:cNvSpPr txBox="1"/>
          <p:nvPr/>
        </p:nvSpPr>
        <p:spPr>
          <a:xfrm>
            <a:off x="1099355" y="6048782"/>
            <a:ext cx="1041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Freq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238DCF-6EE8-45EC-87DA-B83244F60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263" y="3429000"/>
            <a:ext cx="4317007" cy="32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62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BD77F0-A6B3-4402-8B4A-97F37E62F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312832"/>
            <a:ext cx="4697151" cy="351766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5438AD9-C58D-4A52-8627-8BA73C333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At this point, the problem persists for frequency channels below 300 Hz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10AAF-A30F-40DF-BC88-9FF4788488E7}"/>
              </a:ext>
            </a:extLst>
          </p:cNvPr>
          <p:cNvSpPr txBox="1"/>
          <p:nvPr/>
        </p:nvSpPr>
        <p:spPr>
          <a:xfrm>
            <a:off x="6497345" y="6043374"/>
            <a:ext cx="4175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Figure: ILD activity for the -45 deg neurons</a:t>
            </a:r>
          </a:p>
          <a:p>
            <a:r>
              <a:rPr lang="en-US" dirty="0"/>
              <a:t>I think this is the 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06FF95-8F38-456D-8D42-67099D194C94}"/>
              </a:ext>
            </a:extLst>
          </p:cNvPr>
          <p:cNvSpPr/>
          <p:nvPr/>
        </p:nvSpPr>
        <p:spPr>
          <a:xfrm>
            <a:off x="508000" y="2312832"/>
            <a:ext cx="57657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Consolas" panose="020B0609020204030204" pitchFamily="49" charset="0"/>
              </a:rPr>
              <a:t>Envelope = contralateral energy envelope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dirty="0">
                <a:latin typeface="Consolas" panose="020B0609020204030204" pitchFamily="49" charset="0"/>
              </a:rPr>
              <a:t>Z = calculated ILD</a:t>
            </a:r>
          </a:p>
          <a:p>
            <a:r>
              <a:rPr lang="pt-BR" dirty="0">
                <a:latin typeface="Consolas" panose="020B0609020204030204" pitchFamily="49" charset="0"/>
              </a:rPr>
              <a:t>P = neuron parameters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dirty="0">
                <a:latin typeface="Consolas" panose="020B0609020204030204" pitchFamily="49" charset="0"/>
              </a:rPr>
              <a:t>Sz(n,:) = Envelope.*(sigILD(z(n,:),p(n,:)));</a:t>
            </a:r>
          </a:p>
        </p:txBody>
      </p:sp>
    </p:spTree>
    <p:extLst>
      <p:ext uri="{BB962C8B-B14F-4D97-AF65-F5344CB8AC3E}">
        <p14:creationId xmlns:p14="http://schemas.microsoft.com/office/powerpoint/2010/main" val="2026046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DB1AF-0F26-479B-BBEE-08E8E8DB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this point, the problem persists for frequency channels below 300 Hz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44DDA-5562-4B86-A376-4A15DEC3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27407"/>
            <a:ext cx="5338665" cy="369555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Combined ITD and ILD = neuron activity</a:t>
            </a:r>
          </a:p>
          <a:p>
            <a:r>
              <a:rPr lang="en-US" dirty="0"/>
              <a:t>Figure: Input to 45 deg neuron. Freq channels below 300 Hz have high inputs. </a:t>
            </a:r>
          </a:p>
          <a:p>
            <a:r>
              <a:rPr lang="en-US" dirty="0"/>
              <a:t>Procedure: Add the right figure in slide 6 to the figure in slide 7, then LPF.</a:t>
            </a:r>
          </a:p>
          <a:p>
            <a:r>
              <a:rPr lang="en-US" dirty="0"/>
              <a:t>Is the combination of ITD and ILD frequency dependent? No.</a:t>
            </a:r>
          </a:p>
          <a:p>
            <a:r>
              <a:rPr lang="en-US" dirty="0"/>
              <a:t>High low </a:t>
            </a:r>
            <a:r>
              <a:rPr lang="en-US" dirty="0" err="1"/>
              <a:t>freq</a:t>
            </a:r>
            <a:r>
              <a:rPr lang="en-US" dirty="0"/>
              <a:t> activity, probably due to the ILD calculation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CEC73F-E492-4F72-9A72-8F90D8EFD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866" y="2087178"/>
            <a:ext cx="4922096" cy="369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26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09DA-5500-432C-A988-B090C350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onsolas" panose="020B0609020204030204" pitchFamily="49" charset="0"/>
              </a:rPr>
              <a:t>sigILD()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F41F6-BCBB-4CF3-98DA-20A7AF73D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1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each frequency channel (i.e. each neuron)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653D-3C37-4A1C-93DF-10B22C354B00}"/>
              </a:ext>
            </a:extLst>
          </p:cNvPr>
          <p:cNvSpPr/>
          <p:nvPr/>
        </p:nvSpPr>
        <p:spPr>
          <a:xfrm>
            <a:off x="838199" y="2634608"/>
            <a:ext cx="7366001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ED8E13"/>
                </a:solidFill>
                <a:latin typeface="Consolas" panose="020B0609020204030204" pitchFamily="49" charset="0"/>
              </a:rPr>
              <a:t>Function </a:t>
            </a:r>
            <a:r>
              <a:rPr lang="en-US" sz="1400" dirty="0">
                <a:latin typeface="Consolas" panose="020B0609020204030204" pitchFamily="49" charset="0"/>
              </a:rPr>
              <a:t>S = </a:t>
            </a:r>
            <a:r>
              <a:rPr lang="en-US" sz="1400" dirty="0" err="1">
                <a:latin typeface="Consolas" panose="020B0609020204030204" pitchFamily="49" charset="0"/>
              </a:rPr>
              <a:t>sigILD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z,P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Lt=length(z); 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%length of signal i.e. time length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N=size(P,1);</a:t>
            </a:r>
          </a:p>
          <a:p>
            <a:r>
              <a:rPr lang="en-US" sz="1400" dirty="0">
                <a:solidFill>
                  <a:srgbClr val="EEEEEE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solidFill>
                  <a:srgbClr val="00CC00"/>
                </a:solidFill>
                <a:latin typeface="Consolas" panose="020B0609020204030204" pitchFamily="49" charset="0"/>
              </a:rPr>
              <a:t>%Form </a:t>
            </a:r>
            <a:r>
              <a:rPr lang="en-US" sz="1400" dirty="0" err="1">
                <a:solidFill>
                  <a:srgbClr val="00CC00"/>
                </a:solidFill>
                <a:latin typeface="Consolas" panose="020B0609020204030204" pitchFamily="49" charset="0"/>
              </a:rPr>
              <a:t>sigmoids</a:t>
            </a:r>
            <a:endParaRPr lang="en-US" sz="1400" dirty="0">
              <a:solidFill>
                <a:srgbClr val="00CC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CC00"/>
                </a:solidFill>
                <a:latin typeface="Consolas" panose="020B0609020204030204" pitchFamily="49" charset="0"/>
              </a:rPr>
              <a:t>%Eq Gi on mid-left panel, page 3?</a:t>
            </a:r>
          </a:p>
          <a:p>
            <a:r>
              <a:rPr lang="en-US" sz="1400" dirty="0">
                <a:solidFill>
                  <a:srgbClr val="00CC00"/>
                </a:solidFill>
                <a:latin typeface="Consolas" panose="020B0609020204030204" pitchFamily="49" charset="0"/>
              </a:rPr>
              <a:t>%Difference of </a:t>
            </a:r>
            <a:r>
              <a:rPr lang="en-US" sz="1400" dirty="0" err="1">
                <a:solidFill>
                  <a:srgbClr val="00CC00"/>
                </a:solidFill>
                <a:latin typeface="Consolas" panose="020B0609020204030204" pitchFamily="49" charset="0"/>
              </a:rPr>
              <a:t>sigmoids</a:t>
            </a:r>
            <a:r>
              <a:rPr lang="en-US" sz="1400" dirty="0">
                <a:solidFill>
                  <a:srgbClr val="00CC00"/>
                </a:solidFill>
                <a:latin typeface="Consolas" panose="020B0609020204030204" pitchFamily="49" charset="0"/>
              </a:rPr>
              <a:t>, not sum??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R1=((P(:,1)*ones(1,Lt))./(1+exp(-(ones(N,1)*z-(P(:,2)*ones(1,Lt)))./...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(P(:,3)*ones(1,Lt)))))+(P(:,4)*ones(1,Lt));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R2=((P(:,5)*ones(1,Lt))./(1+exp(-(ones(N,1)*z-(P(:,6)*ones(1,Lt)))./...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(P(:,7)*ones(1,Lt)))))+(P(:,8)*ones(1,Lt)); </a:t>
            </a:r>
          </a:p>
          <a:p>
            <a:endParaRPr lang="en-US" sz="1400" dirty="0">
              <a:solidFill>
                <a:srgbClr val="00CC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CC00"/>
                </a:solidFill>
                <a:latin typeface="Consolas" panose="020B0609020204030204" pitchFamily="49" charset="0"/>
              </a:rPr>
              <a:t>%Add to get input current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S=R1+R2;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DC29CA-03BC-41B6-90AD-DBFE0E937AE0}"/>
              </a:ext>
            </a:extLst>
          </p:cNvPr>
          <p:cNvSpPr txBox="1"/>
          <p:nvPr/>
        </p:nvSpPr>
        <p:spPr>
          <a:xfrm>
            <a:off x="8441267" y="622475"/>
            <a:ext cx="3556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P1: Max </a:t>
            </a:r>
            <a:r>
              <a:rPr lang="en-US" dirty="0" err="1"/>
              <a:t>val</a:t>
            </a:r>
            <a:endParaRPr lang="en-US" dirty="0"/>
          </a:p>
          <a:p>
            <a:r>
              <a:rPr lang="en-US" dirty="0"/>
              <a:t>P2: Horizontal offset – based on neuron’s ILD</a:t>
            </a:r>
          </a:p>
          <a:p>
            <a:r>
              <a:rPr lang="en-US" dirty="0"/>
              <a:t>P3: Steepness of Sigmoid – sharpness of ILD tuning</a:t>
            </a:r>
          </a:p>
          <a:p>
            <a:r>
              <a:rPr lang="en-US" dirty="0"/>
              <a:t>P4: Vertical Offset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P2-P6 = </a:t>
            </a:r>
            <a:r>
              <a:rPr lang="en-US" dirty="0" err="1"/>
              <a:t>fwhm</a:t>
            </a:r>
            <a:r>
              <a:rPr lang="en-US" dirty="0"/>
              <a:t> of ILD tuning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Mean(P2-P6) = center of ILD tuning = calculated ILD</a:t>
            </a:r>
          </a:p>
        </p:txBody>
      </p:sp>
    </p:spTree>
    <p:extLst>
      <p:ext uri="{BB962C8B-B14F-4D97-AF65-F5344CB8AC3E}">
        <p14:creationId xmlns:p14="http://schemas.microsoft.com/office/powerpoint/2010/main" val="3771287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CB4B3-2C96-4A54-B429-DC61C74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sigILD</a:t>
            </a:r>
            <a:r>
              <a:rPr lang="en-US" dirty="0"/>
              <a:t>()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E02830-354D-4F1B-863E-7566F3E7F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5133" y="457200"/>
            <a:ext cx="5334000" cy="2971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EC0FE9-50C7-4D7E-87E4-CE2B8C441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133" y="3521075"/>
            <a:ext cx="5334000" cy="2762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795E4C-A8DA-4B8B-ACC4-BEC8716EB3DE}"/>
              </a:ext>
            </a:extLst>
          </p:cNvPr>
          <p:cNvSpPr txBox="1"/>
          <p:nvPr/>
        </p:nvSpPr>
        <p:spPr>
          <a:xfrm>
            <a:off x="838200" y="1824567"/>
            <a:ext cx="457420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</a:t>
            </a:r>
            <a:r>
              <a:rPr lang="en-US" dirty="0" err="1"/>
              <a:t>sigmoids</a:t>
            </a:r>
            <a:r>
              <a:rPr lang="en-US" dirty="0"/>
              <a:t>: r1 and r2, blue and green dashed lines. Top: Higher frequency (~1000 </a:t>
            </a:r>
            <a:r>
              <a:rPr lang="en-US" dirty="0" err="1"/>
              <a:t>hz</a:t>
            </a:r>
            <a:r>
              <a:rPr lang="en-US" dirty="0"/>
              <a:t>). Bottom: </a:t>
            </a:r>
            <a:r>
              <a:rPr lang="en-US"/>
              <a:t>Lower frequency (~280 Hz)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Their sum (or difference) is a single semi-rectangular shape</a:t>
            </a:r>
          </a:p>
          <a:p>
            <a:endParaRPr lang="en-US" dirty="0"/>
          </a:p>
          <a:p>
            <a:r>
              <a:rPr lang="en-US" dirty="0"/>
              <a:t>This shape is shifted to the left or right based on the neuron’s preferred ILD</a:t>
            </a:r>
          </a:p>
          <a:p>
            <a:endParaRPr lang="en-US" dirty="0"/>
          </a:p>
          <a:p>
            <a:r>
              <a:rPr lang="en-US" dirty="0"/>
              <a:t>R1 and R2 show where the envelope energy difference lie. The output value (</a:t>
            </a:r>
            <a:r>
              <a:rPr lang="en-US" dirty="0" err="1"/>
              <a:t>S_z</a:t>
            </a:r>
            <a:r>
              <a:rPr lang="en-US" dirty="0"/>
              <a:t>) is the red circles (looks like thick red line)</a:t>
            </a:r>
          </a:p>
          <a:p>
            <a:endParaRPr lang="en-US" dirty="0"/>
          </a:p>
          <a:p>
            <a:r>
              <a:rPr lang="en-US" b="1" dirty="0"/>
              <a:t>As ILDs decrease with frequency, they move closer to 0 </a:t>
            </a:r>
            <a:r>
              <a:rPr lang="en-US" dirty="0"/>
              <a:t>(as shown in the plots). </a:t>
            </a:r>
            <a:r>
              <a:rPr lang="en-US" b="1" dirty="0"/>
              <a:t>This enables the -45 deg neuron to fire to a 0 deg signal.</a:t>
            </a:r>
          </a:p>
        </p:txBody>
      </p:sp>
    </p:spTree>
    <p:extLst>
      <p:ext uri="{BB962C8B-B14F-4D97-AF65-F5344CB8AC3E}">
        <p14:creationId xmlns:p14="http://schemas.microsoft.com/office/powerpoint/2010/main" val="2958762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AC7A-994B-4521-B17E-60285B16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Binaural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877B8-FBDA-4A9D-89F0-D9926EDD1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sound sources that are </a:t>
            </a:r>
            <a:r>
              <a:rPr lang="en-US" b="1" dirty="0"/>
              <a:t>distant</a:t>
            </a:r>
            <a:r>
              <a:rPr lang="en-US" dirty="0"/>
              <a:t> from the listener, ILDs are negligible below about </a:t>
            </a:r>
            <a:r>
              <a:rPr lang="en-US" b="1" dirty="0"/>
              <a:t>500 Hz</a:t>
            </a:r>
            <a:r>
              <a:rPr lang="en-US" dirty="0"/>
              <a:t>, but may be as large as 20 dB at high frequencies (</a:t>
            </a:r>
            <a:r>
              <a:rPr lang="en-US" dirty="0" err="1"/>
              <a:t>Feddersen</a:t>
            </a:r>
            <a:r>
              <a:rPr lang="en-US" dirty="0"/>
              <a:t> et al, 1957). </a:t>
            </a:r>
          </a:p>
          <a:p>
            <a:r>
              <a:rPr lang="en-US" dirty="0"/>
              <a:t>For sound sources </a:t>
            </a:r>
            <a:r>
              <a:rPr lang="en-US" b="1" dirty="0"/>
              <a:t>close</a:t>
            </a:r>
            <a:r>
              <a:rPr lang="en-US" dirty="0"/>
              <a:t> to the head, considerable ILDs can occur even at low frequencies.</a:t>
            </a:r>
          </a:p>
          <a:p>
            <a:r>
              <a:rPr lang="en-US" dirty="0"/>
              <a:t>The </a:t>
            </a:r>
            <a:r>
              <a:rPr lang="en-US" b="1" dirty="0"/>
              <a:t>Duplex Theory</a:t>
            </a:r>
            <a:r>
              <a:rPr lang="en-US" dirty="0"/>
              <a:t> states that the sound localization is based on </a:t>
            </a:r>
            <a:r>
              <a:rPr lang="en-US" b="1" dirty="0"/>
              <a:t>ILDs at high frequency</a:t>
            </a:r>
            <a:r>
              <a:rPr lang="en-US" dirty="0"/>
              <a:t> and </a:t>
            </a:r>
            <a:r>
              <a:rPr lang="en-US" b="1" dirty="0"/>
              <a:t>ITDs at low frequencies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54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7E41-7C8C-49B7-88FE-539FE98A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ITD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05EA7-C4F3-48C9-A027-0185C9ECD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 correlation function</a:t>
            </a:r>
          </a:p>
          <a:p>
            <a:r>
              <a:rPr lang="en-US" dirty="0"/>
              <a:t>L and R channels and relayed based on the neuron’s “best ITD”</a:t>
            </a:r>
          </a:p>
          <a:p>
            <a:r>
              <a:rPr lang="en-US" dirty="0"/>
              <a:t>Junzi’s code uses a single ITDs for each direction</a:t>
            </a:r>
          </a:p>
          <a:p>
            <a:r>
              <a:rPr lang="en-US" dirty="0"/>
              <a:t>BUT is ITD frequency dependent?</a:t>
            </a:r>
          </a:p>
        </p:txBody>
      </p:sp>
    </p:spTree>
    <p:extLst>
      <p:ext uri="{BB962C8B-B14F-4D97-AF65-F5344CB8AC3E}">
        <p14:creationId xmlns:p14="http://schemas.microsoft.com/office/powerpoint/2010/main" val="3562093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67B7A-AD07-497B-B0A6-E14DE2007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ITD calculation (frequency independent)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BFD24-1CED-4F18-BC6B-7C119FA16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ITDlist</a:t>
            </a:r>
            <a:r>
              <a:rPr lang="en-US" b="1" dirty="0"/>
              <a:t> = [800, 400, 0, -400, -800]/1000;</a:t>
            </a:r>
          </a:p>
          <a:p>
            <a:r>
              <a:rPr lang="en-US" b="1" dirty="0"/>
              <a:t>Corresponding to [-90,45,0,45,90] deg </a:t>
            </a:r>
            <a:r>
              <a:rPr lang="en-US" b="1" dirty="0" err="1"/>
              <a:t>az</a:t>
            </a:r>
            <a:endParaRPr lang="en-US" b="1" dirty="0"/>
          </a:p>
          <a:p>
            <a:r>
              <a:rPr lang="en-US" b="1" dirty="0"/>
              <a:t>Note that the signs are opposite – the model works with this sign switch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09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939</Words>
  <Application>Microsoft Office PowerPoint</Application>
  <PresentationFormat>Widescreen</PresentationFormat>
  <Paragraphs>89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Office Theme</vt:lpstr>
      <vt:lpstr>Debugging: ITD/ILD calculation</vt:lpstr>
      <vt:lpstr>Problem/Overview</vt:lpstr>
      <vt:lpstr>ILD Calculation: General Procedure</vt:lpstr>
      <vt:lpstr>At low gain…</vt:lpstr>
      <vt:lpstr>At higher gain…</vt:lpstr>
      <vt:lpstr>At this point, the problem persists for frequency channels below 300 Hz</vt:lpstr>
      <vt:lpstr>At this point, the problem persists for frequency channels below 300 Hz</vt:lpstr>
      <vt:lpstr>At this point, the problem persists for frequency channels below 300 Hz</vt:lpstr>
      <vt:lpstr>sigILD()</vt:lpstr>
      <vt:lpstr>sigILD()</vt:lpstr>
      <vt:lpstr>Binaural processing</vt:lpstr>
      <vt:lpstr>ITD calculation</vt:lpstr>
      <vt:lpstr>Current ITD calculation (frequency independent)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Debugging: ILD calculation</dc:title>
  <dc:creator>Kenny C</dc:creator>
  <cp:lastModifiedBy>Kenny</cp:lastModifiedBy>
  <cp:revision>37</cp:revision>
  <dcterms:created xsi:type="dcterms:W3CDTF">2018-11-13T21:54:58Z</dcterms:created>
  <dcterms:modified xsi:type="dcterms:W3CDTF">2018-12-05T23:47:07Z</dcterms:modified>
</cp:coreProperties>
</file>